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ban-shorts.onrender.com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ban-shorts.onrender.com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22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731520"/>
            <a:ext cx="10728655" cy="5394960"/>
          </a:xfrm>
          <a:prstGeom prst="roundRect">
            <a:avLst/>
          </a:prstGeom>
          <a:solidFill>
            <a:srgbClr val="1B2E25"/>
          </a:solidFill>
          <a:ln w="19050">
            <a:solidFill>
              <a:srgbClr val="2640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188720" y="1188720"/>
            <a:ext cx="6858000" cy="411480"/>
          </a:xfrm>
          <a:prstGeom prst="roundRect">
            <a:avLst/>
          </a:prstGeom>
          <a:solidFill>
            <a:srgbClr val="1E4030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207008"/>
            <a:ext cx="6675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A7F3D0"/>
                </a:solidFill>
                <a:latin typeface="Malgun Gothic"/>
              </a:defRPr>
            </a:pPr>
            <a:r>
              <a:t>경상북도농업기술원 AI 데이터 전문인재 양성 프로젝트 발표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28800"/>
            <a:ext cx="97840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Malgun Gothic"/>
              </a:defRPr>
            </a:pPr>
            <a:r>
              <a:t>농업재해 및 병해충 긴급 전파를 위한</a:t>
            </a:r>
            <a:br/>
            <a:r>
              <a:t>AI 숏폼(Shorts) 자동 생성기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3657600"/>
            <a:ext cx="9784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>
                <a:solidFill>
                  <a:srgbClr val="A7F3D0"/>
                </a:solidFill>
                <a:latin typeface="Malgun Gothic"/>
              </a:defRPr>
            </a:pPr>
            <a:r>
              <a:t>부제: 기존 텍스트 문자의 한계를 극복하는 고가독성 재해 대응 속보 제작 플랫폼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88720" y="4663440"/>
            <a:ext cx="9814255" cy="1005840"/>
          </a:xfrm>
          <a:prstGeom prst="roundRect">
            <a:avLst/>
          </a:prstGeom>
          <a:solidFill>
            <a:srgbClr val="13221B"/>
          </a:solidFill>
          <a:ln w="12700">
            <a:solidFill>
              <a:srgbClr val="284B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4754880"/>
            <a:ext cx="5943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  <a:latin typeface="Malgun Gothic"/>
              </a:defRPr>
            </a:pPr>
            <a:r>
              <a:t>• 발표팀: 팀 3 (이동은, 김영아, 이미향)</a:t>
            </a:r>
          </a:p>
          <a:p>
            <a:pPr>
              <a:defRPr sz="1500" b="1">
                <a:solidFill>
                  <a:srgbClr val="FFFFFF"/>
                </a:solidFill>
                <a:latin typeface="Malgun Gothic"/>
              </a:defRPr>
            </a:pPr>
            <a:r>
              <a:t>• 라이브 서비스 주소: </a:t>
            </a:r>
            <a:r>
              <a:rPr sz="1500" b="1" u="sng">
                <a:solidFill>
                  <a:srgbClr val="34D399"/>
                </a:solidFill>
                <a:latin typeface="Malgun Gothic"/>
                <a:hlinkClick r:id="rId2"/>
              </a:rPr>
              <a:t>https://gban-shorts.onrender.com</a:t>
            </a:r>
          </a:p>
        </p:txBody>
      </p:sp>
      <p:sp>
        <p:nvSpPr>
          <p:cNvPr id="10" name="Rounded Rectangle 9">
            <a:hlinkClick r:id="rId2"/>
          </p:cNvPr>
          <p:cNvSpPr/>
          <p:nvPr/>
        </p:nvSpPr>
        <p:spPr>
          <a:xfrm>
            <a:off x="7589520" y="4892040"/>
            <a:ext cx="3108960" cy="548640"/>
          </a:xfrm>
          <a:prstGeom prst="roundRect">
            <a:avLst/>
          </a:prstGeom>
          <a:solidFill>
            <a:srgbClr val="10B981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Malgun Gothic"/>
              </a:defRPr>
            </a:pPr>
            <a:r>
              <a:t>🚀 라이브 스튜디오 바로가기 🔗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109728" cy="8229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32004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Outfit"/>
              </a:defRPr>
            </a:pPr>
            <a:r>
              <a:t>SLIDE 02  |  BACKGROUND &amp;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621792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41E18"/>
                </a:solidFill>
                <a:latin typeface="Malgun Gothic"/>
              </a:defRPr>
            </a:pPr>
            <a:r>
              <a:t>기존 농업재해 전파 방식의 한계와 기획 배경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737360"/>
            <a:ext cx="4663440" cy="502920"/>
          </a:xfrm>
          <a:prstGeom prst="roundRect">
            <a:avLst/>
          </a:prstGeom>
          <a:solidFill>
            <a:srgbClr val="FFF1F2"/>
          </a:solidFill>
          <a:ln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783080"/>
            <a:ext cx="4480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E11D48"/>
                </a:solidFill>
                <a:latin typeface="Malgun Gothic"/>
              </a:defRPr>
            </a:pPr>
            <a:r>
              <a:t>🚨 현장 긴급 재난문자(LMS)의 3대 한계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377440"/>
            <a:ext cx="4663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141E18"/>
                </a:solidFill>
                <a:latin typeface="Malgun Gothic"/>
              </a:defRPr>
            </a:pPr>
            <a:r>
              <a:t>1. 가독성 저하: 장문의 텍스트 위주 공지로 농가의 정보 이탈률 극심</a:t>
            </a:r>
          </a:p>
          <a:p>
            <a:pPr>
              <a:spcAft>
                <a:spcPts val="1400"/>
              </a:spcAft>
              <a:defRPr sz="1400">
                <a:solidFill>
                  <a:srgbClr val="141E18"/>
                </a:solidFill>
                <a:latin typeface="Malgun Gothic"/>
              </a:defRPr>
            </a:pPr>
            <a:r>
              <a:t>2. 고령 농업인 취약: 시각적/청각적 직관성 부족으로 긴급 행동요령 전달 실패</a:t>
            </a:r>
          </a:p>
          <a:p>
            <a:pPr>
              <a:spcAft>
                <a:spcPts val="1400"/>
              </a:spcAft>
              <a:defRPr sz="1400">
                <a:solidFill>
                  <a:srgbClr val="141E18"/>
                </a:solidFill>
                <a:latin typeface="Malgun Gothic"/>
              </a:defRPr>
            </a:pPr>
            <a:r>
              <a:t>3. 제작 지연: 담당 공무원의 반복적인 공지글 작성 및 동영상 편집 기술 부재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8095" y="146304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22415" y="1737360"/>
            <a:ext cx="4663440" cy="502920"/>
          </a:xfrm>
          <a:prstGeom prst="roundRect">
            <a:avLst/>
          </a:prstGeom>
          <a:solidFill>
            <a:srgbClr val="ECFDF5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3855" y="1783080"/>
            <a:ext cx="44805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0B981"/>
                </a:solidFill>
                <a:latin typeface="Malgun Gothic"/>
              </a:defRPr>
            </a:pPr>
            <a:r>
              <a:t>💡 AI 숏폼 스튜디오의 혁신적 해결책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22415" y="2377440"/>
            <a:ext cx="4663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>
                <a:solidFill>
                  <a:srgbClr val="141E18"/>
                </a:solidFill>
                <a:latin typeface="Malgun Gothic"/>
              </a:defRPr>
            </a:pPr>
            <a:r>
              <a:t>✔ 1~2분 초스피드 제작: 사진 첨부 + 문구 입력만으로 즉시 동영상 자동 생성</a:t>
            </a:r>
          </a:p>
          <a:p>
            <a:pPr>
              <a:spcAft>
                <a:spcPts val="1400"/>
              </a:spcAft>
              <a:defRPr sz="1400">
                <a:solidFill>
                  <a:srgbClr val="141E18"/>
                </a:solidFill>
                <a:latin typeface="Malgun Gothic"/>
              </a:defRPr>
            </a:pPr>
            <a:r>
              <a:t>✔ 융합형 숏폼 포맷: 자막 + 고품질 AI 음성(TTS) + BGM이 조화된 9:16 비디오</a:t>
            </a:r>
          </a:p>
          <a:p>
            <a:pPr>
              <a:spcAft>
                <a:spcPts val="1400"/>
              </a:spcAft>
              <a:defRPr sz="1400">
                <a:solidFill>
                  <a:srgbClr val="141E18"/>
                </a:solidFill>
                <a:latin typeface="Malgun Gothic"/>
              </a:defRPr>
            </a:pPr>
            <a:r>
              <a:t>✔ 대민 신속 전파: 완성된 MP4 동영상을 카카오톡, 재난문자, SNS로 즉시 보급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109728" cy="8229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32004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Outfit"/>
              </a:defRPr>
            </a:pPr>
            <a:r>
              <a:t>SLIDE 03  |  KEY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621792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41E18"/>
                </a:solidFill>
                <a:latin typeface="Malgun Gothic"/>
              </a:defRPr>
            </a:pPr>
            <a:r>
              <a:t>웹앱의 4대 핵심 서비스 기능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175504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737360"/>
            <a:ext cx="640080" cy="365760"/>
          </a:xfrm>
          <a:prstGeom prst="roundRect">
            <a:avLst/>
          </a:prstGeom>
          <a:solidFill>
            <a:srgbClr val="1E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719072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Outfit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1700784"/>
            <a:ext cx="3986784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41E18"/>
                </a:solidFill>
                <a:latin typeface="Malgun Gothic"/>
              </a:defRPr>
            </a:pPr>
            <a:r>
              <a:t>드래그 앤 드롭 사진 매핑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240280"/>
            <a:ext cx="462686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56258"/>
                </a:solidFill>
                <a:latin typeface="Malgun Gothic"/>
              </a:defRPr>
            </a:pPr>
            <a:r>
              <a:t>현장 피해 사진 및 대응 순서 이미지를 손쉽게 업로드하고 드래그/화살표 버튼으로 자막과 1:1 매칭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2784" y="1463040"/>
            <a:ext cx="5175504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47104" y="1737360"/>
            <a:ext cx="640080" cy="365760"/>
          </a:xfrm>
          <a:prstGeom prst="roundRect">
            <a:avLst/>
          </a:prstGeom>
          <a:solidFill>
            <a:srgbClr val="1E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47104" y="1719072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Outfit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24344" y="1700784"/>
            <a:ext cx="3986784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41E18"/>
                </a:solidFill>
                <a:latin typeface="Malgun Gothic"/>
              </a:defRPr>
            </a:pPr>
            <a:r>
              <a:t>고품질 한국어 AI 음성 (TTS)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47104" y="2240280"/>
            <a:ext cx="462686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56258"/>
                </a:solidFill>
                <a:latin typeface="Malgun Gothic"/>
              </a:defRPr>
            </a:pPr>
            <a:r>
              <a:t>OpenAI 시머, 노바, 오닉스 등 최고급 성우 목소리 지원 및 음성 재생 속도(0.5x~2.0x) 세밀 조절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977639"/>
            <a:ext cx="5175504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1005840" y="4251959"/>
            <a:ext cx="640080" cy="365760"/>
          </a:xfrm>
          <a:prstGeom prst="roundRect">
            <a:avLst/>
          </a:prstGeom>
          <a:solidFill>
            <a:srgbClr val="1E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4233671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Outfit"/>
              </a:defRPr>
            </a:pPr>
            <a: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4215383"/>
            <a:ext cx="3986784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41E18"/>
                </a:solidFill>
                <a:latin typeface="Malgun Gothic"/>
              </a:defRPr>
            </a:pPr>
            <a:r>
              <a:t>농정 전용 BGM 오디오 믹싱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754879"/>
            <a:ext cx="462686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56258"/>
                </a:solidFill>
                <a:latin typeface="Malgun Gothic"/>
              </a:defRPr>
            </a:pPr>
            <a:r>
              <a:t>Fields of Opportunity 등 고품질 배경음악 5종 탑재, 실시간 미리듣기 및 음성/BGM 믹싱 볼륨 제어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72784" y="3977639"/>
            <a:ext cx="5175504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47104" y="4251959"/>
            <a:ext cx="640080" cy="365760"/>
          </a:xfrm>
          <a:prstGeom prst="roundRect">
            <a:avLst/>
          </a:prstGeom>
          <a:solidFill>
            <a:srgbClr val="1E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47104" y="4233671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Outfit"/>
              </a:defRPr>
            </a:pPr>
            <a: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24344" y="4215383"/>
            <a:ext cx="3986784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41E18"/>
                </a:solidFill>
                <a:latin typeface="Malgun Gothic"/>
              </a:defRPr>
            </a:pPr>
            <a:r>
              <a:t>9:16 모바일 MP4 동영상 생성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47104" y="4754879"/>
            <a:ext cx="4626864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56258"/>
                </a:solidFill>
                <a:latin typeface="Malgun Gothic"/>
              </a:defRPr>
            </a:pPr>
            <a:r>
              <a:t>경북 전용 워터마크 자동 탑재, 캔버스 2D 라이브 렌더링 후 표준 MP4 다운로드 &amp; QR코드 모바일 접속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109728" cy="8229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32004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Outfit"/>
              </a:defRPr>
            </a:pPr>
            <a:r>
              <a:t>SLIDE 04  |  SERVICE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621792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41E18"/>
                </a:solidFill>
                <a:latin typeface="Malgun Gothic"/>
              </a:defRPr>
            </a:pPr>
            <a:r>
              <a:t>현장 담당자 4단계 이용 프로세스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2450592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1737360"/>
            <a:ext cx="2084832" cy="457200"/>
          </a:xfrm>
          <a:prstGeom prst="roundRect">
            <a:avLst/>
          </a:prstGeom>
          <a:solidFill>
            <a:srgbClr val="1E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208483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A7F3D0"/>
                </a:solidFill>
                <a:latin typeface="Outfit"/>
              </a:defRPr>
            </a:pPr>
            <a:r>
              <a:t>STEP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377440"/>
            <a:ext cx="20848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41E18"/>
                </a:solidFill>
                <a:latin typeface="Malgun Gothic"/>
              </a:defRPr>
            </a:pPr>
            <a:r>
              <a:t>사진 첨부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00400"/>
            <a:ext cx="208483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56258"/>
                </a:solidFill>
                <a:latin typeface="Malgun Gothic"/>
              </a:defRPr>
            </a:pPr>
            <a:r>
              <a:t>농업재해 피해 사진 또는 작물 대응 가이드 이미지를 순서대로 업로드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83864" y="1463040"/>
            <a:ext cx="2450592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66744" y="1737360"/>
            <a:ext cx="2084832" cy="457200"/>
          </a:xfrm>
          <a:prstGeom prst="roundRect">
            <a:avLst/>
          </a:prstGeom>
          <a:solidFill>
            <a:srgbClr val="1E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66744" y="1783080"/>
            <a:ext cx="208483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A7F3D0"/>
                </a:solidFill>
                <a:latin typeface="Outfit"/>
              </a:defRPr>
            </a:pPr>
            <a:r>
              <a:t>STEP 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66744" y="2377440"/>
            <a:ext cx="20848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41E18"/>
                </a:solidFill>
                <a:latin typeface="Malgun Gothic"/>
              </a:defRPr>
            </a:pPr>
            <a:r>
              <a:t>대본 작성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6744" y="3200400"/>
            <a:ext cx="208483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56258"/>
                </a:solidFill>
                <a:latin typeface="Malgun Gothic"/>
              </a:defRPr>
            </a:pPr>
            <a:r>
              <a:t>줄바꿈(엔터) 단위로 자막 문구 작성, 슬라이드별 재생시간 및 위치 설정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6208" y="1463040"/>
            <a:ext cx="2450592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19088" y="1737360"/>
            <a:ext cx="2084832" cy="457200"/>
          </a:xfrm>
          <a:prstGeom prst="roundRect">
            <a:avLst/>
          </a:prstGeom>
          <a:solidFill>
            <a:srgbClr val="1E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19088" y="1783080"/>
            <a:ext cx="208483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A7F3D0"/>
                </a:solidFill>
                <a:latin typeface="Outfit"/>
              </a:defRPr>
            </a:pPr>
            <a:r>
              <a:t>STEP 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9088" y="2377440"/>
            <a:ext cx="20848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41E18"/>
                </a:solidFill>
                <a:latin typeface="Malgun Gothic"/>
              </a:defRPr>
            </a:pPr>
            <a:r>
              <a:t>음성 &amp; BGM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9088" y="3200400"/>
            <a:ext cx="208483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56258"/>
                </a:solidFill>
                <a:latin typeface="Malgun Gothic"/>
              </a:defRPr>
            </a:pPr>
            <a:r>
              <a:t>원하는 AI 보이스 선택, 5종 농정 BGM 및 오디오 사운드 미리듣기 확인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88552" y="1463040"/>
            <a:ext cx="2450592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171432" y="1737360"/>
            <a:ext cx="2084832" cy="457200"/>
          </a:xfrm>
          <a:prstGeom prst="roundRect">
            <a:avLst/>
          </a:prstGeom>
          <a:solidFill>
            <a:srgbClr val="1E4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71432" y="1783080"/>
            <a:ext cx="208483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A7F3D0"/>
                </a:solidFill>
                <a:latin typeface="Outfit"/>
              </a:defRPr>
            </a:pPr>
            <a:r>
              <a:t>STEP 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1432" y="2377440"/>
            <a:ext cx="208483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41E18"/>
                </a:solidFill>
                <a:latin typeface="Malgun Gothic"/>
              </a:defRPr>
            </a:pPr>
            <a:r>
              <a:t>동영상 다운로드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71432" y="3200400"/>
            <a:ext cx="2084832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56258"/>
                </a:solidFill>
                <a:latin typeface="Malgun Gothic"/>
              </a:defRPr>
            </a:pPr>
            <a:r>
              <a:t>브라우저 캔버스 자동 생성 후 MP4 다운로드 및 카카오톡/문자 즉시 전파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109728" cy="8229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32004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Outfit"/>
              </a:defRPr>
            </a:pPr>
            <a:r>
              <a:t>SLIDE 05  |  TECH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621792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41E18"/>
                </a:solidFill>
                <a:latin typeface="Malgun Gothic"/>
              </a:defRPr>
            </a:pPr>
            <a:r>
              <a:t>웹앱 기술 아키텍처 및 웹 표준 스택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37360"/>
            <a:ext cx="4663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1E4030"/>
                </a:solidFill>
                <a:latin typeface="Malgun Gothic"/>
              </a:defRPr>
            </a:pPr>
            <a:r>
              <a:t>💻 Frontend &amp; Web Standards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286000"/>
            <a:ext cx="46634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41E18"/>
                </a:solidFill>
                <a:latin typeface="Malgun Gothic"/>
              </a:defRPr>
            </a:pPr>
            <a:r>
              <a:t>• Vanilla JavaScript: 외부 프레임워크 없는 초고속 반응속도</a:t>
            </a:r>
          </a:p>
          <a:p>
            <a:pPr>
              <a:spcAft>
                <a:spcPts val="1000"/>
              </a:spcAft>
              <a:defRPr sz="1400">
                <a:solidFill>
                  <a:srgbClr val="141E18"/>
                </a:solidFill>
                <a:latin typeface="Malgun Gothic"/>
              </a:defRPr>
            </a:pPr>
            <a:r>
              <a:t>• Canvas 2D API: 9:16 모바일 비디오 실시간 그래픽 렌더링</a:t>
            </a:r>
          </a:p>
          <a:p>
            <a:pPr>
              <a:spcAft>
                <a:spcPts val="1000"/>
              </a:spcAft>
              <a:defRPr sz="1400">
                <a:solidFill>
                  <a:srgbClr val="141E18"/>
                </a:solidFill>
                <a:latin typeface="Malgun Gothic"/>
              </a:defRPr>
            </a:pPr>
            <a:r>
              <a:t>• Web Audio API: 음성+BGM 실시간 오디오 스트리밍 &amp; 믹싱</a:t>
            </a:r>
          </a:p>
          <a:p>
            <a:pPr>
              <a:spcAft>
                <a:spcPts val="1000"/>
              </a:spcAft>
              <a:defRPr sz="1400">
                <a:solidFill>
                  <a:srgbClr val="141E18"/>
                </a:solidFill>
                <a:latin typeface="Malgun Gothic"/>
              </a:defRPr>
            </a:pPr>
            <a:r>
              <a:t>• MediaRecorder API: 웹 브라우저 단독 MP4 비디오 인코딩</a:t>
            </a:r>
          </a:p>
          <a:p>
            <a:pPr>
              <a:spcAft>
                <a:spcPts val="1000"/>
              </a:spcAft>
              <a:defRPr sz="1400">
                <a:solidFill>
                  <a:srgbClr val="141E18"/>
                </a:solidFill>
                <a:latin typeface="Malgun Gothic"/>
              </a:defRPr>
            </a:pPr>
            <a:r>
              <a:t>• GOBE Luxury System: 다크모드 반전 방지 라이트모드 UI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8095" y="1463040"/>
            <a:ext cx="5212080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22415" y="1737360"/>
            <a:ext cx="46634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900" b="1">
                <a:solidFill>
                  <a:srgbClr val="1E4030"/>
                </a:solidFill>
                <a:latin typeface="Malgun Gothic"/>
              </a:defRPr>
            </a:pPr>
            <a:r>
              <a:t>⚙️ Backend &amp; Cloud Infrastructure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22415" y="2286000"/>
            <a:ext cx="466344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>
                <a:solidFill>
                  <a:srgbClr val="141E18"/>
                </a:solidFill>
                <a:latin typeface="Malgun Gothic"/>
              </a:defRPr>
            </a:pPr>
            <a:r>
              <a:t>• Python HTTP API Server: 경량 RESTful backend 서버 구축</a:t>
            </a:r>
          </a:p>
          <a:p>
            <a:pPr>
              <a:spcAft>
                <a:spcPts val="1000"/>
              </a:spcAft>
              <a:defRPr sz="1400">
                <a:solidFill>
                  <a:srgbClr val="141E18"/>
                </a:solidFill>
                <a:latin typeface="Malgun Gothic"/>
              </a:defRPr>
            </a:pPr>
            <a:r>
              <a:t>• OpenAI Speech REST API: 시머, 오닉스 등 고품질 TTS 연동</a:t>
            </a:r>
          </a:p>
          <a:p>
            <a:pPr>
              <a:spcAft>
                <a:spcPts val="1000"/>
              </a:spcAft>
              <a:defRPr sz="1400">
                <a:solidFill>
                  <a:srgbClr val="141E18"/>
                </a:solidFill>
                <a:latin typeface="Malgun Gothic"/>
              </a:defRPr>
            </a:pPr>
            <a:r>
              <a:t>• API Key Security: Base64 인코딩 및 환경변수 자동 매핑</a:t>
            </a:r>
          </a:p>
          <a:p>
            <a:pPr>
              <a:spcAft>
                <a:spcPts val="1000"/>
              </a:spcAft>
              <a:defRPr sz="1400">
                <a:solidFill>
                  <a:srgbClr val="141E18"/>
                </a:solidFill>
                <a:latin typeface="Malgun Gothic"/>
              </a:defRPr>
            </a:pPr>
            <a:r>
              <a:t>• 24/7 Cloud Service: Render Cloud 배포로 모바일 언제나 접속</a:t>
            </a:r>
          </a:p>
          <a:p>
            <a:pPr>
              <a:spcAft>
                <a:spcPts val="1000"/>
              </a:spcAft>
              <a:defRPr sz="1400">
                <a:solidFill>
                  <a:srgbClr val="141E18"/>
                </a:solidFill>
                <a:latin typeface="Malgun Gothic"/>
              </a:defRPr>
            </a:pPr>
            <a:r>
              <a:t>• QR Code Quick Connect: QR스캔만으로 스마트폰 즉시 실행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109728" cy="8229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32004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Outfit"/>
              </a:defRPr>
            </a:pPr>
            <a:r>
              <a:t>SLIDE 06  |  EXPECTED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621792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41E18"/>
                </a:solidFill>
                <a:latin typeface="Malgun Gothic"/>
              </a:defRPr>
            </a:pPr>
            <a:r>
              <a:t>기존 방식 대비 도입 성과 및 기대효과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328416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5840" y="1737360"/>
            <a:ext cx="2779776" cy="822960"/>
          </a:xfrm>
          <a:prstGeom prst="roundRect">
            <a:avLst/>
          </a:prstGeom>
          <a:solidFill>
            <a:srgbClr val="ECFDF5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783080"/>
            <a:ext cx="2779776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0B981"/>
                </a:solidFill>
                <a:latin typeface="Outfit"/>
              </a:defRPr>
            </a:pPr>
            <a:r>
              <a:t>95% 절감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743200"/>
            <a:ext cx="277977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41E18"/>
                </a:solidFill>
                <a:latin typeface="Malgun Gothic"/>
              </a:defRPr>
            </a:pPr>
            <a:r>
              <a:t>영상 제작 시간 단축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566160"/>
            <a:ext cx="277977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56258"/>
                </a:solidFill>
                <a:latin typeface="Malgun Gothic"/>
              </a:defRPr>
            </a:pPr>
            <a:r>
              <a:t>기존 1~2시간 소요되던 편집 작업을 단 1~2분으로 단축하여 재해 골든타임 사수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25696" y="1463040"/>
            <a:ext cx="3328416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00016" y="1737360"/>
            <a:ext cx="2779776" cy="822960"/>
          </a:xfrm>
          <a:prstGeom prst="roundRect">
            <a:avLst/>
          </a:prstGeom>
          <a:solidFill>
            <a:srgbClr val="ECFDF5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0016" y="1783080"/>
            <a:ext cx="2779776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0B981"/>
                </a:solidFill>
                <a:latin typeface="Outfit"/>
              </a:defRPr>
            </a:pPr>
            <a:r>
              <a:t>300% 향상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0016" y="2743200"/>
            <a:ext cx="277977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41E18"/>
                </a:solidFill>
                <a:latin typeface="Malgun Gothic"/>
              </a:defRPr>
            </a:pPr>
            <a:r>
              <a:t>농가 정보 전달력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0016" y="3566160"/>
            <a:ext cx="277977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56258"/>
                </a:solidFill>
                <a:latin typeface="Malgun Gothic"/>
              </a:defRPr>
            </a:pPr>
            <a:r>
              <a:t>텍스트 대비 시각+음성+자막 융합 콘텐츠로 고령 농업인의 재해 대응 이해도 극대화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19872" y="1463040"/>
            <a:ext cx="3328416" cy="4754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94192" y="1737360"/>
            <a:ext cx="2779776" cy="822960"/>
          </a:xfrm>
          <a:prstGeom prst="roundRect">
            <a:avLst/>
          </a:prstGeom>
          <a:solidFill>
            <a:srgbClr val="ECFDF5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94192" y="1783080"/>
            <a:ext cx="2779776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0B981"/>
                </a:solidFill>
                <a:latin typeface="Outfit"/>
              </a:defRPr>
            </a:pPr>
            <a:r>
              <a:t>24/7 보급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2743200"/>
            <a:ext cx="277977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900" b="1">
                <a:solidFill>
                  <a:srgbClr val="141E18"/>
                </a:solidFill>
                <a:latin typeface="Malgun Gothic"/>
              </a:defRPr>
            </a:pPr>
            <a:r>
              <a:t>모바일 대민 전파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4192" y="3566160"/>
            <a:ext cx="2779776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>
                <a:solidFill>
                  <a:srgbClr val="556258"/>
                </a:solidFill>
                <a:latin typeface="Malgun Gothic"/>
              </a:defRPr>
            </a:pPr>
            <a:r>
              <a:t>QR코드 및 클라우드 URL을 통해 시군 센터 어디서나 365일 즉시 영상 보급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365760"/>
            <a:ext cx="109728" cy="8229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32004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Outfit"/>
              </a:defRPr>
            </a:pPr>
            <a:r>
              <a:t>SLIDE 07  |  CONCLUSION &amp;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621792"/>
            <a:ext cx="10424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41E18"/>
                </a:solidFill>
                <a:latin typeface="Malgun Gothic"/>
              </a:defRPr>
            </a:pPr>
            <a:r>
              <a:t>프로젝트 최종 결론 및 향후 발전 로드맵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10728655" cy="4754880"/>
          </a:xfrm>
          <a:prstGeom prst="roundRect">
            <a:avLst/>
          </a:prstGeom>
          <a:solidFill>
            <a:srgbClr val="13221B"/>
          </a:solidFill>
          <a:ln w="19050">
            <a:solidFill>
              <a:srgbClr val="2640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737360"/>
            <a:ext cx="9966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0B981"/>
                </a:solidFill>
                <a:latin typeface="Malgun Gothic"/>
              </a:defRPr>
            </a:pPr>
            <a:r>
              <a:t>🎯 프로젝트 최종 결론</a:t>
            </a:r>
          </a:p>
          <a:p>
            <a:pPr>
              <a:spcBef>
                <a:spcPts val="800"/>
              </a:spcBef>
              <a:defRPr sz="1500">
                <a:solidFill>
                  <a:srgbClr val="FFFFFF"/>
                </a:solidFill>
                <a:latin typeface="Malgun Gothic"/>
              </a:defRPr>
            </a:pPr>
            <a:r>
              <a:t>1. 농업 재해 및 병해충 상황 발생 시 현장에서 즉시 활용 가능한 실전형 AI 숏폼 생성 플랫폼을 완성하였습니다.</a:t>
            </a:r>
          </a:p>
          <a:p>
            <a:pPr>
              <a:spcBef>
                <a:spcPts val="800"/>
              </a:spcBef>
              <a:defRPr sz="1500">
                <a:solidFill>
                  <a:srgbClr val="FFFFFF"/>
                </a:solidFill>
                <a:latin typeface="Malgun Gothic"/>
              </a:defRPr>
            </a:pPr>
            <a:r>
              <a:t>2. 별도 편집 기술 없이 몇 번의 클릭으로 제작 가능한 사용자 친화적 웹 UI/UX 시스템을 구현하였습니다.</a:t>
            </a:r>
          </a:p>
          <a:p>
            <a:pPr>
              <a:spcBef>
                <a:spcPts val="800"/>
              </a:spcBef>
              <a:defRPr sz="1500">
                <a:solidFill>
                  <a:srgbClr val="FFFFFF"/>
                </a:solidFill>
                <a:latin typeface="Malgun Gothic"/>
              </a:defRPr>
            </a:pPr>
            <a:r>
              <a:t>3. 향후 발전 로드맵:</a:t>
            </a:r>
          </a:p>
          <a:p>
            <a:pPr>
              <a:spcBef>
                <a:spcPts val="800"/>
              </a:spcBef>
              <a:defRPr sz="1500">
                <a:solidFill>
                  <a:srgbClr val="FFFFFF"/>
                </a:solidFill>
                <a:latin typeface="Malgun Gothic"/>
              </a:defRPr>
            </a:pPr>
            <a:r>
              <a:t>    • 자동 기상 특보 데이터 연동 숏폼 자동 발송 체계 구축</a:t>
            </a:r>
          </a:p>
          <a:p>
            <a:pPr>
              <a:spcBef>
                <a:spcPts val="800"/>
              </a:spcBef>
              <a:defRPr sz="1500">
                <a:solidFill>
                  <a:srgbClr val="FFFFFF"/>
                </a:solidFill>
                <a:latin typeface="Malgun Gothic"/>
              </a:defRPr>
            </a:pPr>
            <a:r>
              <a:t>    • 외국인 농업 근로자를 위한 다국어(베트남어, 캄보디아어 등) 음성 자막 지원 확대</a:t>
            </a:r>
          </a:p>
          <a:p>
            <a:pPr>
              <a:spcBef>
                <a:spcPts val="800"/>
              </a:spcBef>
              <a:defRPr sz="1500">
                <a:solidFill>
                  <a:srgbClr val="FFFFFF"/>
                </a:solidFill>
                <a:latin typeface="Malgun Gothic"/>
              </a:defRPr>
            </a:pPr>
            <a:r>
              <a:t>    • 경상북도농업기술원과 함께하는 스마트 농정 및 도민 안전 실현</a:t>
            </a:r>
          </a:p>
        </p:txBody>
      </p:sp>
      <p:sp>
        <p:nvSpPr>
          <p:cNvPr id="8" name="Rounded Rectangle 7">
            <a:hlinkClick r:id="rId2"/>
          </p:cNvPr>
          <p:cNvSpPr/>
          <p:nvPr/>
        </p:nvSpPr>
        <p:spPr>
          <a:xfrm>
            <a:off x="6858000" y="5303520"/>
            <a:ext cx="4114800" cy="640080"/>
          </a:xfrm>
          <a:prstGeom prst="roundRect">
            <a:avLst/>
          </a:prstGeom>
          <a:solidFill>
            <a:srgbClr val="10B981"/>
          </a:solidFill>
          <a:ln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  <a:latin typeface="Malgun Gothic"/>
              </a:defRPr>
            </a:pPr>
            <a:r>
              <a:t>🌐 라이브 서비스 시연 바로가기 (클릭) 🔗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